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7"/>
    <p:sldId id="257" r:id="rId8"/>
    <p:sldId id="258" r:id="rId6"/>
    <p:sldId id="259" r:id="rId5"/>
    <p:sldId id="260" r:id="rId3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5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8000" y="251999"/>
            <a:ext cx="936000" cy="900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000" y="558000"/>
            <a:ext cx="6228000" cy="75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300" b="1" a:ea="Microsoft YaHei" a:latin="Aptos">
                <a:solidFill>
                  <a:srgbClr val="0E2A4E"/>
                </a:solidFill>
                <a:latin typeface="Aptos"/>
              </a:rPr>
              <a:t>基于SpringBoot与RAG的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a:ea="Microsoft YaHei" a:latin="Aptos">
                <a:solidFill>
                  <a:srgbClr val="0E2A4E"/>
                </a:solidFill>
                <a:latin typeface="Aptos"/>
              </a:rPr>
              <a:t>酒店运营支持系统设计与实现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404000"/>
            <a:ext cx="187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a:ea="Microsoft YaHei" a:latin="Aptos">
                <a:solidFill>
                  <a:srgbClr val="CE9831"/>
                </a:solidFill>
                <a:latin typeface="Aptos"/>
              </a:rPr>
              <a:t>本科毕业论文答辩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800000"/>
            <a:ext cx="3168000" cy="201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答辩信息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学生：刘洋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学号：2022105400197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专业班级：人工智能 3 班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指导教师：刘会芝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院系：工学部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时间：2026 年 4 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4000" y="1800000"/>
            <a:ext cx="4752000" cy="2015999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FFFFFF"/>
                </a:solidFill>
                <a:latin typeface="Aptos"/>
              </a:rPr>
              <a:t>答辩关键词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20" b="0" a:ea="Microsoft YaHei" a:latin="Aptos">
                <a:solidFill>
                  <a:srgbClr val="FFFFFF"/>
                </a:solidFill>
                <a:latin typeface="Aptos"/>
              </a:rPr>
              <a:t>运营看板 + 知识管理 + RAG 问答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20" b="0" a:ea="Microsoft YaHei" a:latin="Aptos">
                <a:solidFill>
                  <a:srgbClr val="FFFFFF"/>
                </a:solidFill>
                <a:latin typeface="Aptos"/>
              </a:rPr>
              <a:t>入住率 / 营收 / 订单需求分类预测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20" b="0" a:ea="Microsoft YaHei" a:latin="Aptos">
                <a:solidFill>
                  <a:srgbClr val="FFFFFF"/>
                </a:solidFill>
                <a:latin typeface="Aptos"/>
              </a:rPr>
              <a:t>决策支持与测试验证闭环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068000"/>
            <a:ext cx="64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 a:ea="Microsoft YaHei" a:latin="Aptos">
                <a:solidFill>
                  <a:srgbClr val="5F6770"/>
                </a:solidFill>
                <a:latin typeface="Aptos"/>
              </a:rPr>
              <a:t>系统目标：让酒店管理从“看数据”走向“查知识、做预测、给建议”。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答辩目录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按“背景 - 设计 - 结果”三段组织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36000"/>
            <a:ext cx="540000" cy="360000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a:ea="Microsoft YaHei" a:latin="Aptos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4000" y="936000"/>
            <a:ext cx="6983999" cy="360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0E2A4E"/>
                </a:solidFill>
                <a:latin typeface="Aptos"/>
              </a:rPr>
              <a:t>研究背景与本文切入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655999"/>
            <a:ext cx="540000" cy="360000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a:ea="Microsoft YaHei" a:latin="Aptos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4000" y="1655999"/>
            <a:ext cx="6983999" cy="360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0E2A4E"/>
                </a:solidFill>
                <a:latin typeface="Aptos"/>
              </a:rPr>
              <a:t>系统目标与总体设计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376000"/>
            <a:ext cx="540000" cy="360000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a:ea="Microsoft YaHei" a:latin="Aptos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4000" y="2376000"/>
            <a:ext cx="6983999" cy="360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0E2A4E"/>
                </a:solidFill>
                <a:latin typeface="Aptos"/>
              </a:rPr>
              <a:t>系统实现与页面展示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096000"/>
            <a:ext cx="540000" cy="360000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a:ea="Microsoft YaHei" a:latin="Aptos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4000" y="3096000"/>
            <a:ext cx="6983999" cy="360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0E2A4E"/>
                </a:solidFill>
                <a:latin typeface="Aptos"/>
              </a:rPr>
              <a:t>实验结果与测试验证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3816000"/>
            <a:ext cx="540000" cy="360000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a:ea="Microsoft YaHei" a:latin="Aptos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4000" y="3816000"/>
            <a:ext cx="6983999" cy="360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0E2A4E"/>
                </a:solidFill>
                <a:latin typeface="Aptos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聚焦中小型酒店的真实运营痛点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827999"/>
            <a:ext cx="2628000" cy="151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业务痛点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知识分散，员工仍依赖经验和零散文档。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运营数据分散，管理者难以统一查看。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缺少风险提示和辅助决策入口。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827999"/>
            <a:ext cx="2628000" cy="151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技术契机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SpringBoot 适合快速组织业务流程。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RAG 能提升问答依据的可追溯性。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Flask 服务便于承载预测分析任务。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827999"/>
            <a:ext cx="2628000" cy="151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研究价值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提升运营分析直观性。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提升知识获取效率。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形成可演示、可验证的系统方案。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520000"/>
            <a:ext cx="8352000" cy="1368000"/>
          </a:xfrm>
          <a:prstGeom prst="roundRect">
            <a:avLst/>
          </a:prstGeom>
          <a:solidFill>
            <a:srgbClr val="0E2A4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FFFFFF"/>
                </a:solidFill>
                <a:latin typeface="Aptos"/>
              </a:rPr>
              <a:t>一句话概括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a:ea="Microsoft YaHei" a:latin="Aptos">
                <a:solidFill>
                  <a:srgbClr val="FFFFFF"/>
                </a:solidFill>
                <a:latin typeface="Aptos"/>
              </a:rPr>
              <a:t>本文不是单做一个管理页面，而是构建“数据展示 + 知识服务 + 预测分析 + 决策支持”的运营支持闭环。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研究现状与本文切入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只回答“现有研究缺什么、本文补什么”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827999"/>
            <a:ext cx="3888000" cy="3060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现有研究不足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多聚焦单一模块，如管理平台或知识问答。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较少把运营分析、问答、预测做成一体化平台。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面向中小型酒店的轻量化方案不足。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4000" y="827999"/>
            <a:ext cx="4248000" cy="30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本文补足方式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采用 SpringBoot + Flask + Vue3 完成完整工程链路。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整合知识管理、RAG 问答、运营总览和预测分析。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通过测试与实验结果证明系统可运行、可展示。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本文工作内容 / 系统目标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删掉论文结构页，直接讲系统做了什么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827999"/>
            <a:ext cx="2628000" cy="118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统一运营入口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看板集中展示核心经营指标。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降低多页面切换成本。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827999"/>
            <a:ext cx="2628000" cy="118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提供知识服务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支持知识录入、维护、检索。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结合 RAG 进行业务问答。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827999"/>
            <a:ext cx="2628000" cy="118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形成预测支持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完成三类预测任务。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输出风险提示和建议动作。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268000"/>
            <a:ext cx="8352000" cy="1584000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FFFFFF"/>
                </a:solidFill>
                <a:latin typeface="Aptos"/>
              </a:rPr>
              <a:t>最终形成的业务闭环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a:ea="Microsoft YaHei" a:latin="Aptos">
                <a:solidFill>
                  <a:srgbClr val="FFFFFF"/>
                </a:solidFill>
                <a:latin typeface="Aptos"/>
              </a:rPr>
              <a:t>看数据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a:ea="Microsoft YaHei" a:latin="Aptos">
                <a:solidFill>
                  <a:srgbClr val="FFFFFF"/>
                </a:solidFill>
                <a:latin typeface="Aptos"/>
              </a:rPr>
              <a:t>查知识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a:ea="Microsoft YaHei" a:latin="Aptos">
                <a:solidFill>
                  <a:srgbClr val="FFFFFF"/>
                </a:solidFill>
                <a:latin typeface="Aptos"/>
              </a:rPr>
              <a:t>做预测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a:ea="Microsoft YaHei" a:latin="Aptos">
                <a:solidFill>
                  <a:srgbClr val="FFFFFF"/>
                </a:solidFill>
                <a:latin typeface="Aptos"/>
              </a:rPr>
              <a:t>给建议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前端、业务后端、智能服务、数据层四部分协同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4536000" cy="18606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76000" y="827999"/>
            <a:ext cx="3636000" cy="30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架构说明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Vue3 负责页面与图表。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SpringBoot 负责登录、知识、看板与决策接口。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Flask 负责 RAG 问答和预测分析。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MySQL 存储用户、知识与运营指标。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模块设计与关键数据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只保留答辩真正需要解释的内容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64000"/>
            <a:ext cx="3096000" cy="21516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0" y="864000"/>
            <a:ext cx="5112000" cy="14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核心模块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用户管理、运营总览、知识管理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智能问答、预测分析、决策支持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2484000"/>
            <a:ext cx="2412000" cy="1368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3 张核心表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sys_user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kb_document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ops_daily_metric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2484000"/>
            <a:ext cx="2412000" cy="1368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4 个关键接口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80" b="0" a:ea="Microsoft YaHei" a:latin="Aptos">
                <a:solidFill>
                  <a:srgbClr val="20262D"/>
                </a:solidFill>
                <a:latin typeface="Aptos"/>
              </a:rPr>
              <a:t>/api/auth/login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80" b="0" a:ea="Microsoft YaHei" a:latin="Aptos">
                <a:solidFill>
                  <a:srgbClr val="20262D"/>
                </a:solidFill>
                <a:latin typeface="Aptos"/>
              </a:rPr>
              <a:t>/api/ops/dashboard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80" b="0" a:ea="Microsoft YaHei" a:latin="Aptos">
                <a:solidFill>
                  <a:srgbClr val="20262D"/>
                </a:solidFill>
                <a:latin typeface="Aptos"/>
              </a:rPr>
              <a:t>/api/rag/ask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80" b="0" a:ea="Microsoft YaHei" a:latin="Aptos">
                <a:solidFill>
                  <a:srgbClr val="20262D"/>
                </a:solidFill>
                <a:latin typeface="Aptos"/>
              </a:rPr>
              <a:t>/api/ml/predict-*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系统页面展示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优先展示真实页面，不堆论文文字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4031999" cy="3023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2628000"/>
            <a:ext cx="4031999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登录页面</a:t>
            </a:r>
          </a:p>
        </p:txBody>
      </p:sp>
      <p:pic>
        <p:nvPicPr>
          <p:cNvPr id="8" name="Picture 7" descr="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827999"/>
            <a:ext cx="4031999" cy="22101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0000" y="2628000"/>
            <a:ext cx="4031999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运营总览与分析页面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880000"/>
            <a:ext cx="8352000" cy="100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页面价值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60" b="0" a:ea="Microsoft YaHei" a:latin="Aptos">
                <a:solidFill>
                  <a:srgbClr val="20262D"/>
                </a:solidFill>
                <a:latin typeface="Aptos"/>
              </a:rPr>
              <a:t>界面能直接承接登录、看板展示和经营状态分析。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知识管理与智能问答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这是系统最能体现 RAG 特点的一组页面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2592000" cy="194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2520000"/>
            <a:ext cx="2592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知识管理</a:t>
            </a:r>
          </a:p>
        </p:txBody>
      </p:sp>
      <p:pic>
        <p:nvPicPr>
          <p:cNvPr id="8" name="Picture 7" descr="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0" y="827999"/>
            <a:ext cx="2592000" cy="194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40000" y="2520000"/>
            <a:ext cx="2592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普通问答</a:t>
            </a:r>
          </a:p>
        </p:txBody>
      </p:sp>
      <p:pic>
        <p:nvPicPr>
          <p:cNvPr id="10" name="Picture 9" descr="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000" y="827999"/>
            <a:ext cx="2592000" cy="194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0000" y="2520000"/>
            <a:ext cx="2592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深度搜索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2808000"/>
            <a:ext cx="8352000" cy="10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展示要点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知识文档可维护，问答结果带引用来源，复杂问题支持深度搜索。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预测分析与决策支持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预测结果会继续参与经营判断，而不是只给一个数值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im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3888000" cy="23159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2556000"/>
            <a:ext cx="3888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预测结果页面</a:t>
            </a:r>
          </a:p>
        </p:txBody>
      </p:sp>
      <p:pic>
        <p:nvPicPr>
          <p:cNvPr id="8" name="Picture 7" descr="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000" y="827999"/>
            <a:ext cx="4284000" cy="33954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28000" y="2556000"/>
            <a:ext cx="4284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趋势监控页面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808000"/>
            <a:ext cx="8352000" cy="10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页面价值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系统统一展示预测值、趋势变化、风险提示和建议动作。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模型实验结果总览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强调“结果可量化”，但不过度堆指标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864000"/>
            <a:ext cx="2592000" cy="129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入住率预测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RMSE 0.0705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MAE 0.0466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R² 0.9200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864000"/>
            <a:ext cx="2592000" cy="129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营收预测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RMSE 3930.8891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MAE 2731.3515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a:ea="Microsoft YaHei" a:latin="Aptos">
                <a:solidFill>
                  <a:srgbClr val="20262D"/>
                </a:solidFill>
                <a:latin typeface="Aptos"/>
              </a:rPr>
              <a:t>R² 0.9420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864000"/>
            <a:ext cx="2592000" cy="129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订单需求分类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Accuracy 0.9099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Precision 0.8929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Recall 0.9804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F1 0.9346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376000"/>
            <a:ext cx="8352000" cy="1512000"/>
          </a:xfrm>
          <a:prstGeom prst="roundRect">
            <a:avLst/>
          </a:prstGeom>
          <a:solidFill>
            <a:srgbClr val="0E2A4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FFFFFF"/>
                </a:solidFill>
                <a:latin typeface="Aptos"/>
              </a:rPr>
              <a:t>结果解读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FFFFFF"/>
                </a:solidFill>
                <a:latin typeface="Aptos"/>
              </a:rPr>
              <a:t>两项回归任务 R² 均超过 0.92，说明趋势拟合效果较好。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FFFFFF"/>
                </a:solidFill>
                <a:latin typeface="Aptos"/>
              </a:rPr>
              <a:t>分类任务 Accuracy 超过 0.90，适合承担预警类辅助判断。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FFFFFF"/>
                </a:solidFill>
                <a:latin typeface="Aptos"/>
              </a:rPr>
              <a:t>目标不是追求生产级极限精度，而是证明系统具备可预测、可联动能力。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回归实验图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用趋势对比图直接说明拟合效果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image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4068000" cy="169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2520000"/>
            <a:ext cx="4068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入住率预测值与实际值对比</a:t>
            </a:r>
          </a:p>
        </p:txBody>
      </p:sp>
      <p:pic>
        <p:nvPicPr>
          <p:cNvPr id="8" name="Picture 7" descr="image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827999"/>
            <a:ext cx="4068000" cy="169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0000" y="2520000"/>
            <a:ext cx="4068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营收预测值与实际值对比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808000"/>
            <a:ext cx="8352000" cy="10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结论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两项回归任务在整体趋势上与真实值较接近，可支撑经营趋势判断。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分类模型结果图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ROC 曲线与混淆矩阵说明模型区分能力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image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4068000" cy="34868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2520000"/>
            <a:ext cx="4068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ROC 曲线</a:t>
            </a:r>
          </a:p>
        </p:txBody>
      </p:sp>
      <p:pic>
        <p:nvPicPr>
          <p:cNvPr id="8" name="Picture 7" descr="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827999"/>
            <a:ext cx="4068000" cy="34868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0000" y="2520000"/>
            <a:ext cx="4068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a:ea="Microsoft YaHei" a:latin="Aptos">
                <a:solidFill>
                  <a:srgbClr val="0E2A4E"/>
                </a:solidFill>
                <a:latin typeface="Aptos"/>
              </a:rPr>
              <a:t>混淆矩阵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808000"/>
            <a:ext cx="8352000" cy="10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结论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模型能较好区分高需求状态与常规状态，可为房态安排和收益策略提供参考。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系统测试与联调验证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重点说明系统主流程已经真正跑通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827999"/>
            <a:ext cx="4031999" cy="30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功能测试通过项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a:ea="Microsoft YaHei" a:latin="Aptos">
                <a:solidFill>
                  <a:srgbClr val="20262D"/>
                </a:solidFill>
                <a:latin typeface="Aptos"/>
              </a:rPr>
              <a:t>登录鉴权：成功返回 Token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a:ea="Microsoft YaHei" a:latin="Aptos">
                <a:solidFill>
                  <a:srgbClr val="20262D"/>
                </a:solidFill>
                <a:latin typeface="Aptos"/>
              </a:rPr>
              <a:t>未授权访问：可被拦截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a:ea="Microsoft YaHei" a:latin="Aptos">
                <a:solidFill>
                  <a:srgbClr val="20262D"/>
                </a:solidFill>
                <a:latin typeface="Aptos"/>
              </a:rPr>
              <a:t>运营总览：可返回指标与趋势数据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a:ea="Microsoft YaHei" a:latin="Aptos">
                <a:solidFill>
                  <a:srgbClr val="20262D"/>
                </a:solidFill>
                <a:latin typeface="Aptos"/>
              </a:rPr>
              <a:t>知识管理：增删改查正常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a:ea="Microsoft YaHei" a:latin="Aptos">
                <a:solidFill>
                  <a:srgbClr val="20262D"/>
                </a:solidFill>
                <a:latin typeface="Aptos"/>
              </a:rPr>
              <a:t>智能问答：可返回回答与引用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a:ea="Microsoft YaHei" a:latin="Aptos">
                <a:solidFill>
                  <a:srgbClr val="20262D"/>
                </a:solidFill>
                <a:latin typeface="Aptos"/>
              </a:rPr>
              <a:t>预测接口：三类接口均返回结果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0000" y="827999"/>
            <a:ext cx="4031999" cy="3060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联调结论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SpringBoot 能作为统一业务入口协调前后端。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ML 服务可用时，问答、预测、决策链路可以完整贯通。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说明系统不是静态页面，而是可运行的业务闭环。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62000"/>
            <a:ext cx="1152000" cy="79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"/>
            <a:ext cx="55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a:ea="Microsoft YaHei" a:latin="Aptos">
                <a:solidFill>
                  <a:srgbClr val="0E2A4E"/>
                </a:solidFill>
                <a:latin typeface="Aptos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00" y="522000"/>
            <a:ext cx="60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a:ea="Microsoft YaHei" a:latin="Aptos">
                <a:solidFill>
                  <a:srgbClr val="5F6770"/>
                </a:solidFill>
                <a:latin typeface="Aptos"/>
              </a:rPr>
              <a:t>把结论、创新点和后续方向压到同一页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234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 a:ea="Microsoft YaHei" a:latin="Aptos">
                <a:solidFill>
                  <a:srgbClr val="0E2A4E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827999"/>
            <a:ext cx="2628000" cy="13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总结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完成核心业务闭环。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系统具备可运行性与可展示性。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827999"/>
            <a:ext cx="2628000" cy="13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创新点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整合看板、知识、问答、预测、决策。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20" b="0" a:ea="Microsoft YaHei" a:latin="Aptos">
                <a:solidFill>
                  <a:srgbClr val="20262D"/>
                </a:solidFill>
                <a:latin typeface="Aptos"/>
              </a:rPr>
              <a:t>问答和预测结果都强调可解释性。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827999"/>
            <a:ext cx="2628000" cy="13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0E2A4E"/>
                </a:solidFill>
                <a:latin typeface="Aptos"/>
              </a:rPr>
              <a:t>展望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接入真实 PMS 数据。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40" b="0" a:ea="Microsoft YaHei" a:latin="Aptos">
                <a:solidFill>
                  <a:srgbClr val="20262D"/>
                </a:solidFill>
                <a:latin typeface="Aptos"/>
              </a:rPr>
              <a:t>增强知识更新与风险分析能力。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448000"/>
            <a:ext cx="8352000" cy="1440000"/>
          </a:xfrm>
          <a:prstGeom prst="roundRect">
            <a:avLst/>
          </a:prstGeom>
          <a:solidFill>
            <a:srgbClr val="18457E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50" b="1" a:ea="Microsoft YaHei" a:latin="Aptos">
                <a:solidFill>
                  <a:srgbClr val="FFFFFF"/>
                </a:solidFill>
                <a:latin typeface="Aptos"/>
              </a:rPr>
              <a:t>答辩表达建议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20" b="0" a:ea="Microsoft YaHei" a:latin="Aptos">
                <a:solidFill>
                  <a:srgbClr val="FFFFFF"/>
                </a:solidFill>
                <a:latin typeface="Aptos"/>
              </a:rPr>
              <a:t>当前版本重点证明“链路已经打通、页面已经实现、结果可以验证”，未来优化重点放在真实数据接入与长期迭代。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55999" y="1368000"/>
            <a:ext cx="5832000" cy="12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1" a:ea="Microsoft YaHei" a:latin="Aptos">
                <a:solidFill>
                  <a:srgbClr val="CE9831"/>
                </a:solidFill>
                <a:latin typeface="Aptos"/>
              </a:rPr>
              <a:t>答辩结束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500" b="1" a:ea="Microsoft YaHei" a:latin="Aptos">
                <a:solidFill>
                  <a:srgbClr val="0E2A4E"/>
                </a:solidFill>
                <a:latin typeface="Aptos"/>
              </a:rPr>
              <a:t>感谢各位老师聆听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0" a:ea="Microsoft YaHei" a:latin="Aptos">
                <a:solidFill>
                  <a:srgbClr val="5F6770"/>
                </a:solidFill>
                <a:latin typeface="Aptos"/>
              </a:rPr>
              <a:t>恳请批评指正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0" y="2951999"/>
            <a:ext cx="2664000" cy="43200"/>
          </a:xfrm>
          <a:prstGeom prst="rect">
            <a:avLst/>
          </a:prstGeom>
          <a:solidFill>
            <a:srgbClr val="CE9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6000" y="3240000"/>
            <a:ext cx="48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20" b="0" a:ea="Microsoft YaHei" a:latin="Aptos">
                <a:solidFill>
                  <a:srgbClr val="5F6770"/>
                </a:solidFill>
                <a:latin typeface="Aptos"/>
              </a:rPr>
              <a:t>刘洋 | 人工智能 3 班 | 指导教师：刘会芝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40" b="1" a:ea="Microsoft YaHei" a:latin="Aptos">
                <a:solidFill>
                  <a:srgbClr val="0E2A4E"/>
                </a:solidFill>
                <a:latin typeface="Aptos"/>
              </a:rPr>
              <a:t>基于SpringBoot与RAG的酒店运营支持系统设计与实现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全屏显示(16:9)</PresentationFormat>
  <Paragraphs>4</Paragraphs>
  <Slides>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梦里水乡</cp:lastModifiedBy>
  <cp:revision>3</cp:revision>
  <dcterms:created xsi:type="dcterms:W3CDTF">2025-10-29T13:46:00Z</dcterms:created>
  <dcterms:modified xsi:type="dcterms:W3CDTF">2025-11-18T05:35:00Z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{"ContentPropagator":"001191340000711771143J00000","Label":"1","ReservedCode1":"1761745599093","ProduceID":"zhiwen-pptx-9122828413","ReservedCode2":"1761745599093","PropagateID":"zhiwen-pptx-9122828413","ContentProducer":"001191340000711771143J00000"}</vt:lpwstr>
  </property>
  <property fmtid="{D5CDD505-2E9C-101B-9397-08002B2CF9AE}" pid="3" name="ICV">
    <vt:lpwstr>23E6A2EBC2734BD99ED45DB72656E3B2_12</vt:lpwstr>
  </property>
  <property fmtid="{D5CDD505-2E9C-101B-9397-08002B2CF9AE}" pid="4" name="KSOProductBuildVer">
    <vt:lpwstr>2052-12.1.0.23542</vt:lpwstr>
  </property>
</Properties>
</file>