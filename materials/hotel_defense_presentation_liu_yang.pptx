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7"/>
    <p:sldId id="257" r:id="rId8"/>
    <p:sldId id="258" r:id="rId6"/>
    <p:sldId id="259" r:id="rId5"/>
    <p:sldId id="260" r:id="rId3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5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2000" y="558000"/>
            <a:ext cx="7560000" cy="12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300" b="1" a:ea="Microsoft YaHei" a:latin="Aptos">
                <a:solidFill>
                  <a:srgbClr val="FFFFFF"/>
                </a:solidFill>
                <a:latin typeface="Aptos"/>
              </a:rPr>
              <a:t>基于SpringBoot与RAG的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a:ea="Microsoft YaHei" a:latin="Aptos">
                <a:solidFill>
                  <a:srgbClr val="FFFFFF"/>
                </a:solidFill>
                <a:latin typeface="Aptos"/>
              </a:rPr>
              <a:t>酒店运营支持系统设计与实现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800000"/>
            <a:ext cx="30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a:ea="Microsoft YaHei" a:latin="Aptos">
                <a:solidFill>
                  <a:srgbClr val="0D3F78"/>
                </a:solidFill>
                <a:latin typeface="Aptos"/>
              </a:rPr>
              <a:t>本科毕业论文答辩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6000" y="3240000"/>
            <a:ext cx="3311999" cy="122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 a:ea="Microsoft YaHei" a:latin="Aptos">
                <a:solidFill>
                  <a:srgbClr val="0D3F78"/>
                </a:solidFill>
                <a:latin typeface="Aptos"/>
              </a:rPr>
              <a:t>答辩信息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40" b="0" a:ea="Microsoft YaHei" a:latin="Aptos">
                <a:solidFill>
                  <a:srgbClr val="242A30"/>
                </a:solidFill>
                <a:latin typeface="Aptos"/>
              </a:rPr>
              <a:t>学生：刘洋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40" b="0" a:ea="Microsoft YaHei" a:latin="Aptos">
                <a:solidFill>
                  <a:srgbClr val="242A30"/>
                </a:solidFill>
                <a:latin typeface="Aptos"/>
              </a:rPr>
              <a:t>学号：2022105400197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40" b="0" a:ea="Microsoft YaHei" a:latin="Aptos">
                <a:solidFill>
                  <a:srgbClr val="242A30"/>
                </a:solidFill>
                <a:latin typeface="Aptos"/>
              </a:rPr>
              <a:t>指导教师：刘会芝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40" b="0" a:ea="Microsoft YaHei" a:latin="Aptos">
                <a:solidFill>
                  <a:srgbClr val="242A30"/>
                </a:solidFill>
                <a:latin typeface="Aptos"/>
              </a:rPr>
              <a:t>专业班级：人工智能 3 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60000" y="3240000"/>
            <a:ext cx="3851999" cy="1224000"/>
          </a:xfrm>
          <a:prstGeom prst="roundRect">
            <a:avLst/>
          </a:prstGeom>
          <a:solidFill>
            <a:srgbClr val="EEF5FC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 a:ea="Microsoft YaHei" a:latin="Aptos">
                <a:solidFill>
                  <a:srgbClr val="0D3F78"/>
                </a:solidFill>
                <a:latin typeface="Aptos"/>
              </a:rPr>
              <a:t>答辩关键词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20" b="0" a:ea="Microsoft YaHei" a:latin="Aptos">
                <a:solidFill>
                  <a:srgbClr val="242A30"/>
                </a:solidFill>
                <a:latin typeface="Aptos"/>
              </a:rPr>
              <a:t>运营看板 + 知识管理 + RAG问答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20" b="0" a:ea="Microsoft YaHei" a:latin="Aptos">
                <a:solidFill>
                  <a:srgbClr val="242A30"/>
                </a:solidFill>
                <a:latin typeface="Aptos"/>
              </a:rPr>
              <a:t>入住率 / 营收 / 订单需求分类预测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20" b="0" a:ea="Microsoft YaHei" a:latin="Aptos">
                <a:solidFill>
                  <a:srgbClr val="242A30"/>
                </a:solidFill>
                <a:latin typeface="Aptos"/>
              </a:rPr>
              <a:t>决策支持与测试验证闭环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44000" y="540000"/>
            <a:ext cx="460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800" b="1" a:ea="Microsoft YaHei" a:latin="Aptos">
                <a:solidFill>
                  <a:srgbClr val="0D3F78"/>
                </a:solidFill>
                <a:latin typeface="Aptos"/>
              </a:rPr>
              <a:t>答辩目录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40" b="0" a:ea="Microsoft YaHei" a:latin="Aptos">
                <a:solidFill>
                  <a:srgbClr val="242A30"/>
                </a:solidFill>
                <a:latin typeface="Aptos"/>
              </a:rPr>
              <a:t>01  研究背景与本文切入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40" b="0" a:ea="Microsoft YaHei" a:latin="Aptos">
                <a:solidFill>
                  <a:srgbClr val="242A30"/>
                </a:solidFill>
                <a:latin typeface="Aptos"/>
              </a:rPr>
              <a:t>02  系统目标与总体设计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40" b="0" a:ea="Microsoft YaHei" a:latin="Aptos">
                <a:solidFill>
                  <a:srgbClr val="242A30"/>
                </a:solidFill>
                <a:latin typeface="Aptos"/>
              </a:rPr>
              <a:t>03  系统实现与页面展示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40" b="0" a:ea="Microsoft YaHei" a:latin="Aptos">
                <a:solidFill>
                  <a:srgbClr val="242A30"/>
                </a:solidFill>
                <a:latin typeface="Aptos"/>
              </a:rPr>
              <a:t>04  实验结果与测试验证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40" b="0" a:ea="Microsoft YaHei" a:latin="Aptos">
                <a:solidFill>
                  <a:srgbClr val="242A30"/>
                </a:solidFill>
                <a:latin typeface="Aptos"/>
              </a:rPr>
              <a:t>05 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0000" y="1512000"/>
            <a:ext cx="450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2400" b="1" a:ea="Microsoft YaHei" a:latin="Aptos">
                <a:solidFill>
                  <a:srgbClr val="FFFFFF"/>
                </a:solidFill>
                <a:latin typeface="Aptos"/>
              </a:rPr>
              <a:t>研究背景与系统设计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a:ea="Microsoft YaHei" a:latin="Aptos">
                <a:solidFill>
                  <a:srgbClr val="FFFFFF"/>
                </a:solidFill>
                <a:latin typeface="Aptos"/>
              </a:rPr>
              <a:t>Problem, Goal and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78000"/>
            <a:ext cx="64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a:ea="Microsoft YaHei" a:latin="Aptos">
                <a:solidFill>
                  <a:srgbClr val="0D3F78"/>
                </a:solidFill>
                <a:latin typeface="Aptos"/>
              </a:rPr>
              <a:t>研究背景与本文切入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7200" y="619200"/>
            <a:ext cx="6480000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a:ea="Microsoft YaHei" a:latin="Aptos">
                <a:solidFill>
                  <a:srgbClr val="70767E"/>
                </a:solidFill>
                <a:latin typeface="Aptos"/>
              </a:rPr>
              <a:t>强调现有研究缺口与本文补足方式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864000"/>
            <a:ext cx="3888000" cy="306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a:ea="Microsoft YaHei" a:latin="Aptos">
                <a:solidFill>
                  <a:srgbClr val="0D3F78"/>
                </a:solidFill>
                <a:latin typeface="Aptos"/>
              </a:rPr>
              <a:t>现有研究不足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60" b="0" a:ea="Microsoft YaHei" a:latin="Aptos">
                <a:solidFill>
                  <a:srgbClr val="242A30"/>
                </a:solidFill>
                <a:latin typeface="Aptos"/>
              </a:rPr>
              <a:t>多聚焦单一能力，如管理平台或知识问答。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60" b="0" a:ea="Microsoft YaHei" a:latin="Aptos">
                <a:solidFill>
                  <a:srgbClr val="242A30"/>
                </a:solidFill>
                <a:latin typeface="Aptos"/>
              </a:rPr>
              <a:t>较少把运营分析、RAG 问答、预测支持整合为一体化平台。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60" b="0" a:ea="Microsoft YaHei" a:latin="Aptos">
                <a:solidFill>
                  <a:srgbClr val="242A30"/>
                </a:solidFill>
                <a:latin typeface="Aptos"/>
              </a:rPr>
              <a:t>面向中小型酒店的轻量化运营支持方案仍较少。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8000" y="864000"/>
            <a:ext cx="3996000" cy="3060000"/>
          </a:xfrm>
          <a:prstGeom prst="roundRect">
            <a:avLst/>
          </a:prstGeom>
          <a:solidFill>
            <a:srgbClr val="EEF5FC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a:ea="Microsoft YaHei" a:latin="Aptos">
                <a:solidFill>
                  <a:srgbClr val="0D3F78"/>
                </a:solidFill>
                <a:latin typeface="Aptos"/>
              </a:rPr>
              <a:t>本文补足方式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60" b="0" a:ea="Microsoft YaHei" a:latin="Aptos">
                <a:solidFill>
                  <a:srgbClr val="242A30"/>
                </a:solidFill>
                <a:latin typeface="Aptos"/>
              </a:rPr>
              <a:t>采用 SpringBoot + Flask + Vue3 搭建完整工程链路。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60" b="0" a:ea="Microsoft YaHei" a:latin="Aptos">
                <a:solidFill>
                  <a:srgbClr val="242A30"/>
                </a:solidFill>
                <a:latin typeface="Aptos"/>
              </a:rPr>
              <a:t>整合知识管理、RAG 问答、运营总览、三类预测和决策支持。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60" b="0" a:ea="Microsoft YaHei" a:latin="Aptos">
                <a:solidFill>
                  <a:srgbClr val="242A30"/>
                </a:solidFill>
                <a:latin typeface="Aptos"/>
              </a:rPr>
              <a:t>通过测试与实验结果证明系统具备可运行、可展示、可验证价值。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78000"/>
            <a:ext cx="64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a:ea="Microsoft YaHei" a:latin="Aptos">
                <a:solidFill>
                  <a:srgbClr val="0D3F78"/>
                </a:solidFill>
                <a:latin typeface="Aptos"/>
              </a:rPr>
              <a:t>系统目标与总体架构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7200" y="619200"/>
            <a:ext cx="6480000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a:ea="Microsoft YaHei" a:latin="Aptos">
                <a:solidFill>
                  <a:srgbClr val="70767E"/>
                </a:solidFill>
                <a:latin typeface="Aptos"/>
              </a:rPr>
              <a:t>回答“这套系统做了什么、怎么组织起来的”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846000"/>
            <a:ext cx="3240000" cy="126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20" b="1" a:ea="Microsoft YaHei" a:latin="Aptos">
                <a:solidFill>
                  <a:srgbClr val="0D3F78"/>
                </a:solidFill>
                <a:latin typeface="Aptos"/>
              </a:rPr>
              <a:t>系统目标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40" b="0" a:ea="Microsoft YaHei" a:latin="Aptos">
                <a:solidFill>
                  <a:srgbClr val="242A30"/>
                </a:solidFill>
                <a:latin typeface="Aptos"/>
              </a:rPr>
              <a:t>统一运营入口：集中展示核心经营指标。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40" b="0" a:ea="Microsoft YaHei" a:latin="Aptos">
                <a:solidFill>
                  <a:srgbClr val="242A30"/>
                </a:solidFill>
                <a:latin typeface="Aptos"/>
              </a:rPr>
              <a:t>提供知识服务：支持知识维护与可追溯问答。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40" b="0" a:ea="Microsoft YaHei" a:latin="Aptos">
                <a:solidFill>
                  <a:srgbClr val="242A30"/>
                </a:solidFill>
                <a:latin typeface="Aptos"/>
              </a:rPr>
              <a:t>形成预测支持：输出风险提示与建议动作。</a:t>
            </a:r>
          </a:p>
        </p:txBody>
      </p:sp>
      <p:pic>
        <p:nvPicPr>
          <p:cNvPr id="6" name="Picture 5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0" y="846000"/>
            <a:ext cx="4428000" cy="181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88000" y="2610000"/>
            <a:ext cx="4248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40" b="0" a:ea="Microsoft YaHei" a:latin="Aptos">
                <a:solidFill>
                  <a:srgbClr val="0D3F78"/>
                </a:solidFill>
                <a:latin typeface="Aptos"/>
              </a:rPr>
              <a:t>总体架构图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2916000"/>
            <a:ext cx="7883999" cy="972000"/>
          </a:xfrm>
          <a:prstGeom prst="roundRect">
            <a:avLst/>
          </a:prstGeom>
          <a:solidFill>
            <a:srgbClr val="EEF5FC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60" b="1" a:ea="Microsoft YaHei" a:latin="Aptos">
                <a:solidFill>
                  <a:srgbClr val="0D3F78"/>
                </a:solidFill>
                <a:latin typeface="Aptos"/>
              </a:rPr>
              <a:t>技术路线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20" b="0" a:ea="Microsoft YaHei" a:latin="Aptos">
                <a:solidFill>
                  <a:srgbClr val="242A30"/>
                </a:solidFill>
                <a:latin typeface="Aptos"/>
              </a:rPr>
              <a:t>Vue3 前端 + SpringBoot 业务后端 + Flask 智能服务 + MySQL 数据层 + text2vec / DeepSeek 能力支撑。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78000"/>
            <a:ext cx="64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a:ea="Microsoft YaHei" a:latin="Aptos">
                <a:solidFill>
                  <a:srgbClr val="0D3F78"/>
                </a:solidFill>
                <a:latin typeface="Aptos"/>
              </a:rPr>
              <a:t>模块设计与关键数据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7200" y="619200"/>
            <a:ext cx="6480000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a:ea="Microsoft YaHei" a:latin="Aptos">
                <a:solidFill>
                  <a:srgbClr val="70767E"/>
                </a:solidFill>
                <a:latin typeface="Aptos"/>
              </a:rPr>
              <a:t>只保留答辩真正需要解释的模块、表与接口</a:t>
            </a:r>
          </a:p>
        </p:txBody>
      </p:sp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864000"/>
            <a:ext cx="3024000" cy="2101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2412000"/>
            <a:ext cx="3024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D3F78"/>
                </a:solidFill>
                <a:latin typeface="Aptos"/>
              </a:rPr>
              <a:t>系统功能模块图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0" y="846000"/>
            <a:ext cx="4752000" cy="126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20" b="1" a:ea="Microsoft YaHei" a:latin="Aptos">
                <a:solidFill>
                  <a:srgbClr val="0D3F78"/>
                </a:solidFill>
                <a:latin typeface="Aptos"/>
              </a:rPr>
              <a:t>核心模块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30" b="0" a:ea="Microsoft YaHei" a:latin="Aptos">
                <a:solidFill>
                  <a:srgbClr val="242A30"/>
                </a:solidFill>
                <a:latin typeface="Aptos"/>
              </a:rPr>
              <a:t>用户管理、运营总览、知识管理、智能问答、预测分析、决策支持。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2232000"/>
            <a:ext cx="2232000" cy="1655999"/>
          </a:xfrm>
          <a:prstGeom prst="roundRect">
            <a:avLst/>
          </a:prstGeom>
          <a:solidFill>
            <a:srgbClr val="EEF5FC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60" b="1" a:ea="Microsoft YaHei" a:latin="Aptos">
                <a:solidFill>
                  <a:srgbClr val="0D3F78"/>
                </a:solidFill>
                <a:latin typeface="Aptos"/>
              </a:rPr>
              <a:t>3 张核心表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a:ea="Microsoft YaHei" a:latin="Aptos">
                <a:solidFill>
                  <a:srgbClr val="242A30"/>
                </a:solidFill>
                <a:latin typeface="Aptos"/>
              </a:rPr>
              <a:t>sys_user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a:ea="Microsoft YaHei" a:latin="Aptos">
                <a:solidFill>
                  <a:srgbClr val="242A30"/>
                </a:solidFill>
                <a:latin typeface="Aptos"/>
              </a:rPr>
              <a:t>kb_document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a:ea="Microsoft YaHei" a:latin="Aptos">
                <a:solidFill>
                  <a:srgbClr val="242A30"/>
                </a:solidFill>
                <a:latin typeface="Aptos"/>
              </a:rPr>
              <a:t>ops_daily_metric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000" y="2232000"/>
            <a:ext cx="2232000" cy="165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60" b="1" a:ea="Microsoft YaHei" a:latin="Aptos">
                <a:solidFill>
                  <a:srgbClr val="0D3F78"/>
                </a:solidFill>
                <a:latin typeface="Aptos"/>
              </a:rPr>
              <a:t>4 个关键接口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 b="0" a:ea="Microsoft YaHei" a:latin="Aptos">
                <a:solidFill>
                  <a:srgbClr val="242A30"/>
                </a:solidFill>
                <a:latin typeface="Aptos"/>
              </a:rPr>
              <a:t>/api/auth/login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 b="0" a:ea="Microsoft YaHei" a:latin="Aptos">
                <a:solidFill>
                  <a:srgbClr val="242A30"/>
                </a:solidFill>
                <a:latin typeface="Aptos"/>
              </a:rPr>
              <a:t>/api/ops/dashboard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 b="0" a:ea="Microsoft YaHei" a:latin="Aptos">
                <a:solidFill>
                  <a:srgbClr val="242A30"/>
                </a:solidFill>
                <a:latin typeface="Aptos"/>
              </a:rPr>
              <a:t>/api/rag/ask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80" b="0" a:ea="Microsoft YaHei" a:latin="Aptos">
                <a:solidFill>
                  <a:srgbClr val="242A30"/>
                </a:solidFill>
                <a:latin typeface="Aptos"/>
              </a:rPr>
              <a:t>/api/ml/predict-*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0000" y="1512000"/>
            <a:ext cx="450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2400" b="1" a:ea="Microsoft YaHei" a:latin="Aptos">
                <a:solidFill>
                  <a:srgbClr val="FFFFFF"/>
                </a:solidFill>
                <a:latin typeface="Aptos"/>
              </a:rPr>
              <a:t>系统实现与页面展示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a:ea="Microsoft YaHei" a:latin="Aptos">
                <a:solidFill>
                  <a:srgbClr val="FFFFFF"/>
                </a:solidFill>
                <a:latin typeface="Aptos"/>
              </a:rPr>
              <a:t>Implementation and Demonstration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78000"/>
            <a:ext cx="64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a:ea="Microsoft YaHei" a:latin="Aptos">
                <a:solidFill>
                  <a:srgbClr val="0D3F78"/>
                </a:solidFill>
                <a:latin typeface="Aptos"/>
              </a:rPr>
              <a:t>系统页面展示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7200" y="619200"/>
            <a:ext cx="6480000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a:ea="Microsoft YaHei" a:latin="Aptos">
                <a:solidFill>
                  <a:srgbClr val="70767E"/>
                </a:solidFill>
                <a:latin typeface="Aptos"/>
              </a:rPr>
              <a:t>优先展示真实页面，而不是论文大段文字</a:t>
            </a:r>
          </a:p>
        </p:txBody>
      </p:sp>
      <p:pic>
        <p:nvPicPr>
          <p:cNvPr id="5" name="Picture 4" descr="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827999"/>
            <a:ext cx="3888000" cy="2916000"/>
          </a:xfrm>
          <a:prstGeom prst="rect">
            <a:avLst/>
          </a:prstGeom>
        </p:spPr>
      </p:pic>
      <p:pic>
        <p:nvPicPr>
          <p:cNvPr id="6" name="Picture 5" descr="image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827999"/>
            <a:ext cx="3960000" cy="21706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2592000"/>
            <a:ext cx="3960000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D3F78"/>
                </a:solidFill>
                <a:latin typeface="Aptos"/>
              </a:rPr>
              <a:t>登录页面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2592000"/>
            <a:ext cx="3960000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D3F78"/>
                </a:solidFill>
                <a:latin typeface="Aptos"/>
              </a:rPr>
              <a:t>运营总览与分析页面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898000"/>
            <a:ext cx="7920000" cy="93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80" b="1" a:ea="Microsoft YaHei" a:latin="Aptos">
                <a:solidFill>
                  <a:srgbClr val="0D3F78"/>
                </a:solidFill>
                <a:latin typeface="Aptos"/>
              </a:rPr>
              <a:t>页面价值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20" b="0" a:ea="Microsoft YaHei" a:latin="Aptos">
                <a:solidFill>
                  <a:srgbClr val="242A30"/>
                </a:solidFill>
                <a:latin typeface="Aptos"/>
              </a:rPr>
              <a:t>系统已完成登录、看板展示和经营状态分析页面，答辩时可直接对应论文实现部分。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78000"/>
            <a:ext cx="64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a:ea="Microsoft YaHei" a:latin="Aptos">
                <a:solidFill>
                  <a:srgbClr val="0D3F78"/>
                </a:solidFill>
                <a:latin typeface="Aptos"/>
              </a:rPr>
              <a:t>知识管理与智能问答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7200" y="619200"/>
            <a:ext cx="6480000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a:ea="Microsoft YaHei" a:latin="Aptos">
                <a:solidFill>
                  <a:srgbClr val="70767E"/>
                </a:solidFill>
                <a:latin typeface="Aptos"/>
              </a:rPr>
              <a:t>重点体现 RAG 的知识来源与问答能力</a:t>
            </a:r>
          </a:p>
        </p:txBody>
      </p:sp>
      <p:pic>
        <p:nvPicPr>
          <p:cNvPr id="5" name="Picture 4" descr="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846000"/>
            <a:ext cx="2376000" cy="178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2394000"/>
            <a:ext cx="2376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a:ea="Microsoft YaHei" a:latin="Aptos">
                <a:solidFill>
                  <a:srgbClr val="0D3F78"/>
                </a:solidFill>
                <a:latin typeface="Aptos"/>
              </a:rPr>
              <a:t>知识管理</a:t>
            </a:r>
          </a:p>
        </p:txBody>
      </p:sp>
      <p:pic>
        <p:nvPicPr>
          <p:cNvPr id="7" name="Picture 6" descr="image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000" y="846000"/>
            <a:ext cx="2376000" cy="178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24000" y="2394000"/>
            <a:ext cx="2376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a:ea="Microsoft YaHei" a:latin="Aptos">
                <a:solidFill>
                  <a:srgbClr val="0D3F78"/>
                </a:solidFill>
                <a:latin typeface="Aptos"/>
              </a:rPr>
              <a:t>普通问答</a:t>
            </a:r>
          </a:p>
        </p:txBody>
      </p:sp>
      <p:pic>
        <p:nvPicPr>
          <p:cNvPr id="9" name="Picture 8" descr="image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8000" y="846000"/>
            <a:ext cx="2376000" cy="178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88000" y="2394000"/>
            <a:ext cx="2376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a:ea="Microsoft YaHei" a:latin="Aptos">
                <a:solidFill>
                  <a:srgbClr val="0D3F78"/>
                </a:solidFill>
                <a:latin typeface="Aptos"/>
              </a:rPr>
              <a:t>深度搜索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682000"/>
            <a:ext cx="7920000" cy="1152000"/>
          </a:xfrm>
          <a:prstGeom prst="roundRect">
            <a:avLst/>
          </a:prstGeom>
          <a:solidFill>
            <a:srgbClr val="EEF5FC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80" b="1" a:ea="Microsoft YaHei" a:latin="Aptos">
                <a:solidFill>
                  <a:srgbClr val="0D3F78"/>
                </a:solidFill>
                <a:latin typeface="Aptos"/>
              </a:rPr>
              <a:t>展示要点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a:ea="Microsoft YaHei" a:latin="Aptos">
                <a:solidFill>
                  <a:srgbClr val="242A30"/>
                </a:solidFill>
                <a:latin typeface="Aptos"/>
              </a:rPr>
              <a:t>知识管理页面支持文档新增、查询、更新与删除。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a:ea="Microsoft YaHei" a:latin="Aptos">
                <a:solidFill>
                  <a:srgbClr val="242A30"/>
                </a:solidFill>
                <a:latin typeface="Aptos"/>
              </a:rPr>
              <a:t>普通问答会返回回答正文与引用信息。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a:ea="Microsoft YaHei" a:latin="Aptos">
                <a:solidFill>
                  <a:srgbClr val="242A30"/>
                </a:solidFill>
                <a:latin typeface="Aptos"/>
              </a:rPr>
              <a:t>深度搜索面向复杂问题场景，增强回答完整性。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78000"/>
            <a:ext cx="64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a:ea="Microsoft YaHei" a:latin="Aptos">
                <a:solidFill>
                  <a:srgbClr val="0D3F78"/>
                </a:solidFill>
                <a:latin typeface="Aptos"/>
              </a:rPr>
              <a:t>预测分析与决策支持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7200" y="619200"/>
            <a:ext cx="6480000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a:ea="Microsoft YaHei" a:latin="Aptos">
                <a:solidFill>
                  <a:srgbClr val="70767E"/>
                </a:solidFill>
                <a:latin typeface="Aptos"/>
              </a:rPr>
              <a:t>预测结果会继续参与经营判断，而不是只停留在数值层</a:t>
            </a:r>
          </a:p>
        </p:txBody>
      </p:sp>
      <p:pic>
        <p:nvPicPr>
          <p:cNvPr id="5" name="Picture 4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846000"/>
            <a:ext cx="3600000" cy="2144404"/>
          </a:xfrm>
          <a:prstGeom prst="rect">
            <a:avLst/>
          </a:prstGeom>
        </p:spPr>
      </p:pic>
      <p:pic>
        <p:nvPicPr>
          <p:cNvPr id="6" name="Picture 5" descr="image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000" y="846000"/>
            <a:ext cx="4068000" cy="32242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2484000"/>
            <a:ext cx="360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a:ea="Microsoft YaHei" a:latin="Aptos">
                <a:solidFill>
                  <a:srgbClr val="0D3F78"/>
                </a:solidFill>
                <a:latin typeface="Aptos"/>
              </a:rPr>
              <a:t>预测结果展示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2000" y="2484000"/>
            <a:ext cx="4068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a:ea="Microsoft YaHei" a:latin="Aptos">
                <a:solidFill>
                  <a:srgbClr val="0D3F78"/>
                </a:solidFill>
                <a:latin typeface="Aptos"/>
              </a:rPr>
              <a:t>趋势监控页面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736000"/>
            <a:ext cx="7920000" cy="10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80" b="1" a:ea="Microsoft YaHei" a:latin="Aptos">
                <a:solidFill>
                  <a:srgbClr val="0D3F78"/>
                </a:solidFill>
                <a:latin typeface="Aptos"/>
              </a:rPr>
              <a:t>页面价值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10" b="0" a:ea="Microsoft YaHei" a:latin="Aptos">
                <a:solidFill>
                  <a:srgbClr val="242A30"/>
                </a:solidFill>
                <a:latin typeface="Aptos"/>
              </a:rPr>
              <a:t>系统统一展示预测值、趋势变化、风险提示和建议动作，能够和运营总览、知识问答形成闭环。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0000" y="1512000"/>
            <a:ext cx="450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2400" b="1" a:ea="Microsoft YaHei" a:latin="Aptos">
                <a:solidFill>
                  <a:srgbClr val="FFFFFF"/>
                </a:solidFill>
                <a:latin typeface="Aptos"/>
              </a:rPr>
              <a:t>实验结果与测试验证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a:ea="Microsoft YaHei" a:latin="Aptos">
                <a:solidFill>
                  <a:srgbClr val="FFFFFF"/>
                </a:solidFill>
                <a:latin typeface="Aptos"/>
              </a:rPr>
              <a:t>Experiment and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78000"/>
            <a:ext cx="64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a:ea="Microsoft YaHei" a:latin="Aptos">
                <a:solidFill>
                  <a:srgbClr val="0D3F78"/>
                </a:solidFill>
                <a:latin typeface="Aptos"/>
              </a:rPr>
              <a:t>模型实验结果总览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7200" y="619200"/>
            <a:ext cx="6480000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a:ea="Microsoft YaHei" a:latin="Aptos">
                <a:solidFill>
                  <a:srgbClr val="70767E"/>
                </a:solidFill>
                <a:latin typeface="Aptos"/>
              </a:rPr>
              <a:t>强调“结果可量化”，但不过度堆指标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900000"/>
            <a:ext cx="2448000" cy="13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60" b="1" a:ea="Microsoft YaHei" a:latin="Aptos">
                <a:solidFill>
                  <a:srgbClr val="0D3F78"/>
                </a:solidFill>
                <a:latin typeface="Aptos"/>
              </a:rPr>
              <a:t>入住率预测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 b="0" a:ea="Microsoft YaHei" a:latin="Aptos">
                <a:solidFill>
                  <a:srgbClr val="242A30"/>
                </a:solidFill>
                <a:latin typeface="Aptos"/>
              </a:rPr>
              <a:t>RMSE 0.0705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 b="0" a:ea="Microsoft YaHei" a:latin="Aptos">
                <a:solidFill>
                  <a:srgbClr val="242A30"/>
                </a:solidFill>
                <a:latin typeface="Aptos"/>
              </a:rPr>
              <a:t>MAE 0.0466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 b="0" a:ea="Microsoft YaHei" a:latin="Aptos">
                <a:solidFill>
                  <a:srgbClr val="242A30"/>
                </a:solidFill>
                <a:latin typeface="Aptos"/>
              </a:rPr>
              <a:t>R² 0.9200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88000" y="900000"/>
            <a:ext cx="2448000" cy="13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60" b="1" a:ea="Microsoft YaHei" a:latin="Aptos">
                <a:solidFill>
                  <a:srgbClr val="0D3F78"/>
                </a:solidFill>
                <a:latin typeface="Aptos"/>
              </a:rPr>
              <a:t>营收预测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 b="0" a:ea="Microsoft YaHei" a:latin="Aptos">
                <a:solidFill>
                  <a:srgbClr val="242A30"/>
                </a:solidFill>
                <a:latin typeface="Aptos"/>
              </a:rPr>
              <a:t>RMSE 3930.8891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 b="0" a:ea="Microsoft YaHei" a:latin="Aptos">
                <a:solidFill>
                  <a:srgbClr val="242A30"/>
                </a:solidFill>
                <a:latin typeface="Aptos"/>
              </a:rPr>
              <a:t>MAE 2731.3515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 b="0" a:ea="Microsoft YaHei" a:latin="Aptos">
                <a:solidFill>
                  <a:srgbClr val="242A30"/>
                </a:solidFill>
                <a:latin typeface="Aptos"/>
              </a:rPr>
              <a:t>R² 0.9420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16000" y="900000"/>
            <a:ext cx="2448000" cy="13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60" b="1" a:ea="Microsoft YaHei" a:latin="Aptos">
                <a:solidFill>
                  <a:srgbClr val="0D3F78"/>
                </a:solidFill>
                <a:latin typeface="Aptos"/>
              </a:rPr>
              <a:t>订单需求分类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 b="0" a:ea="Microsoft YaHei" a:latin="Aptos">
                <a:solidFill>
                  <a:srgbClr val="242A30"/>
                </a:solidFill>
                <a:latin typeface="Aptos"/>
              </a:rPr>
              <a:t>Accuracy 0.9099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 b="0" a:ea="Microsoft YaHei" a:latin="Aptos">
                <a:solidFill>
                  <a:srgbClr val="242A30"/>
                </a:solidFill>
                <a:latin typeface="Aptos"/>
              </a:rPr>
              <a:t>Precision 0.8929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 b="0" a:ea="Microsoft YaHei" a:latin="Aptos">
                <a:solidFill>
                  <a:srgbClr val="242A30"/>
                </a:solidFill>
                <a:latin typeface="Aptos"/>
              </a:rPr>
              <a:t>Recall 0.9804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90" b="0" a:ea="Microsoft YaHei" a:latin="Aptos">
                <a:solidFill>
                  <a:srgbClr val="242A30"/>
                </a:solidFill>
                <a:latin typeface="Aptos"/>
              </a:rPr>
              <a:t>F1 0.9346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2520000"/>
            <a:ext cx="7920000" cy="1368000"/>
          </a:xfrm>
          <a:prstGeom prst="roundRect">
            <a:avLst/>
          </a:prstGeom>
          <a:solidFill>
            <a:srgbClr val="EEF5FC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80" b="1" a:ea="Microsoft YaHei" a:latin="Aptos">
                <a:solidFill>
                  <a:srgbClr val="0D3F78"/>
                </a:solidFill>
                <a:latin typeface="Aptos"/>
              </a:rPr>
              <a:t>结果解读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a:ea="Microsoft YaHei" a:latin="Aptos">
                <a:solidFill>
                  <a:srgbClr val="242A30"/>
                </a:solidFill>
                <a:latin typeface="Aptos"/>
              </a:rPr>
              <a:t>两项回归任务 R² 均超过 0.92，说明趋势拟合效果较好。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a:ea="Microsoft YaHei" a:latin="Aptos">
                <a:solidFill>
                  <a:srgbClr val="242A30"/>
                </a:solidFill>
                <a:latin typeface="Aptos"/>
              </a:rPr>
              <a:t>分类任务 Accuracy 超过 0.90，适合承担预警类辅助判断。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a:ea="Microsoft YaHei" a:latin="Aptos">
                <a:solidFill>
                  <a:srgbClr val="242A30"/>
                </a:solidFill>
                <a:latin typeface="Aptos"/>
              </a:rPr>
              <a:t>目标不是追求生产级极限精度，而是证明系统具备可预测、可联动能力。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78000"/>
            <a:ext cx="64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a:ea="Microsoft YaHei" a:latin="Aptos">
                <a:solidFill>
                  <a:srgbClr val="0D3F78"/>
                </a:solidFill>
                <a:latin typeface="Aptos"/>
              </a:rPr>
              <a:t>结果图与系统测试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7200" y="619200"/>
            <a:ext cx="6480000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a:ea="Microsoft YaHei" a:latin="Aptos">
                <a:solidFill>
                  <a:srgbClr val="70767E"/>
                </a:solidFill>
                <a:latin typeface="Aptos"/>
              </a:rPr>
              <a:t>一页同时说明实验图与主流程联调结果</a:t>
            </a:r>
          </a:p>
        </p:txBody>
      </p:sp>
      <p:pic>
        <p:nvPicPr>
          <p:cNvPr id="5" name="Picture 4" descr="imag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827999"/>
            <a:ext cx="3816000" cy="159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2430000"/>
            <a:ext cx="3816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90" b="0" a:ea="Microsoft YaHei" a:latin="Aptos">
                <a:solidFill>
                  <a:srgbClr val="0D3F78"/>
                </a:solidFill>
                <a:latin typeface="Aptos"/>
              </a:rPr>
              <a:t>入住率预测值与实际值对比</a:t>
            </a:r>
          </a:p>
        </p:txBody>
      </p:sp>
      <p:pic>
        <p:nvPicPr>
          <p:cNvPr id="7" name="Picture 6" descr="imag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827999"/>
            <a:ext cx="3960000" cy="33942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0" y="2430000"/>
            <a:ext cx="396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90" b="0" a:ea="Microsoft YaHei" a:latin="Aptos">
                <a:solidFill>
                  <a:srgbClr val="0D3F78"/>
                </a:solidFill>
                <a:latin typeface="Aptos"/>
              </a:rPr>
              <a:t>订单需求分类 ROC 曲线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682000"/>
            <a:ext cx="3671999" cy="115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30" b="1" a:ea="Microsoft YaHei" a:latin="Aptos">
                <a:solidFill>
                  <a:srgbClr val="0D3F78"/>
                </a:solidFill>
                <a:latin typeface="Aptos"/>
              </a:rPr>
              <a:t>图表说明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a:ea="Microsoft YaHei" a:latin="Aptos">
                <a:solidFill>
                  <a:srgbClr val="242A30"/>
                </a:solidFill>
                <a:latin typeface="Aptos"/>
              </a:rPr>
              <a:t>回归图说明趋势拟合能力，ROC 曲线说明分类模型具有较好的区分能力。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0" y="2682000"/>
            <a:ext cx="3960000" cy="1152000"/>
          </a:xfrm>
          <a:prstGeom prst="roundRect">
            <a:avLst/>
          </a:prstGeom>
          <a:solidFill>
            <a:srgbClr val="EEF5FC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30" b="1" a:ea="Microsoft YaHei" a:latin="Aptos">
                <a:solidFill>
                  <a:srgbClr val="0D3F78"/>
                </a:solidFill>
                <a:latin typeface="Aptos"/>
              </a:rPr>
              <a:t>系统测试通过项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70" b="0" a:ea="Microsoft YaHei" a:latin="Aptos">
                <a:solidFill>
                  <a:srgbClr val="242A30"/>
                </a:solidFill>
                <a:latin typeface="Aptos"/>
              </a:rPr>
              <a:t>登录鉴权：成功返回 Token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70" b="0" a:ea="Microsoft YaHei" a:latin="Aptos">
                <a:solidFill>
                  <a:srgbClr val="242A30"/>
                </a:solidFill>
                <a:latin typeface="Aptos"/>
              </a:rPr>
              <a:t>运营总览：可返回指标与趋势数据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70" b="0" a:ea="Microsoft YaHei" a:latin="Aptos">
                <a:solidFill>
                  <a:srgbClr val="242A30"/>
                </a:solidFill>
                <a:latin typeface="Aptos"/>
              </a:rPr>
              <a:t>智能问答与三类预测接口均能返回结果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78000"/>
            <a:ext cx="64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a:ea="Microsoft YaHei" a:latin="Aptos">
                <a:solidFill>
                  <a:srgbClr val="0D3F78"/>
                </a:solidFill>
                <a:latin typeface="Aptos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7200" y="619200"/>
            <a:ext cx="6480000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a:ea="Microsoft YaHei" a:latin="Aptos">
                <a:solidFill>
                  <a:srgbClr val="70767E"/>
                </a:solidFill>
                <a:latin typeface="Aptos"/>
              </a:rPr>
              <a:t>把结论、创新点和后续方向压到同一页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846000"/>
            <a:ext cx="2520000" cy="129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80" b="1" a:ea="Microsoft YaHei" a:latin="Aptos">
                <a:solidFill>
                  <a:srgbClr val="0D3F78"/>
                </a:solidFill>
                <a:latin typeface="Aptos"/>
              </a:rPr>
              <a:t>总结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90" b="0" a:ea="Microsoft YaHei" a:latin="Aptos">
                <a:solidFill>
                  <a:srgbClr val="242A30"/>
                </a:solidFill>
                <a:latin typeface="Aptos"/>
              </a:rPr>
              <a:t>系统已完成核心业务闭环，具备可运行性、可展示性和一定工程实践价值。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31999" y="846000"/>
            <a:ext cx="2520000" cy="1296000"/>
          </a:xfrm>
          <a:prstGeom prst="roundRect">
            <a:avLst/>
          </a:prstGeom>
          <a:solidFill>
            <a:srgbClr val="EEF5FC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80" b="1" a:ea="Microsoft YaHei" a:latin="Aptos">
                <a:solidFill>
                  <a:srgbClr val="0D3F78"/>
                </a:solidFill>
                <a:latin typeface="Aptos"/>
              </a:rPr>
              <a:t>创新点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80" b="0" a:ea="Microsoft YaHei" a:latin="Aptos">
                <a:solidFill>
                  <a:srgbClr val="242A30"/>
                </a:solidFill>
                <a:latin typeface="Aptos"/>
              </a:rPr>
              <a:t>整合看板、知识、问答、预测与决策支持。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80" b="0" a:ea="Microsoft YaHei" a:latin="Aptos">
                <a:solidFill>
                  <a:srgbClr val="242A30"/>
                </a:solidFill>
                <a:latin typeface="Aptos"/>
              </a:rPr>
              <a:t>强调问答与预测结果的可解释性。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3999" y="846000"/>
            <a:ext cx="2520000" cy="129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80" b="1" a:ea="Microsoft YaHei" a:latin="Aptos">
                <a:solidFill>
                  <a:srgbClr val="0D3F78"/>
                </a:solidFill>
                <a:latin typeface="Aptos"/>
              </a:rPr>
              <a:t>展望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80" b="0" a:ea="Microsoft YaHei" a:latin="Aptos">
                <a:solidFill>
                  <a:srgbClr val="242A30"/>
                </a:solidFill>
                <a:latin typeface="Aptos"/>
              </a:rPr>
              <a:t>接入真实 PMS 数据。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80" b="0" a:ea="Microsoft YaHei" a:latin="Aptos">
                <a:solidFill>
                  <a:srgbClr val="242A30"/>
                </a:solidFill>
                <a:latin typeface="Aptos"/>
              </a:rPr>
              <a:t>增强知识在线更新与风险分析能力。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2412000"/>
            <a:ext cx="8028000" cy="1440000"/>
          </a:xfrm>
          <a:prstGeom prst="roundRect">
            <a:avLst/>
          </a:prstGeom>
          <a:solidFill>
            <a:srgbClr val="1658A0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a:ea="Microsoft YaHei" a:latin="Aptos">
                <a:solidFill>
                  <a:srgbClr val="FFFFFF"/>
                </a:solidFill>
                <a:latin typeface="Aptos"/>
              </a:rPr>
              <a:t>答辩表达建议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10" b="0" a:ea="Microsoft YaHei" a:latin="Aptos">
                <a:solidFill>
                  <a:srgbClr val="FFFFFF"/>
                </a:solidFill>
                <a:latin typeface="Aptos"/>
              </a:rPr>
              <a:t>当前版本重点证明“链路已经打通、页面已经实现、结果可以验证”，未来优化重点放在真实数据接入与长期迭代。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0000" y="1475999"/>
            <a:ext cx="5400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400" b="1" a:ea="Microsoft YaHei" a:latin="Aptos">
                <a:solidFill>
                  <a:srgbClr val="0D3F78"/>
                </a:solidFill>
                <a:latin typeface="Aptos"/>
              </a:rPr>
              <a:t>感谢各位老师聆听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0" a:ea="Microsoft YaHei" a:latin="Aptos">
                <a:solidFill>
                  <a:srgbClr val="70767E"/>
                </a:solidFill>
                <a:latin typeface="Aptos"/>
              </a:rPr>
              <a:t>恳请批评指正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6000" y="3096000"/>
            <a:ext cx="46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80" b="0" a:ea="Microsoft YaHei" a:latin="Aptos">
                <a:solidFill>
                  <a:srgbClr val="70767E"/>
                </a:solidFill>
                <a:latin typeface="Aptos"/>
              </a:rPr>
              <a:t>刘洋 | 人工智能 3 班 | 指导教师：刘会芝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80" b="1" a:ea="Microsoft YaHei" a:latin="Aptos">
                <a:solidFill>
                  <a:srgbClr val="0D3F78"/>
                </a:solidFill>
                <a:latin typeface="Aptos"/>
              </a:rPr>
              <a:t>基于SpringBoot与RAG的酒店运营支持系统设计与实现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>全屏显示(16:9)</PresentationFormat>
  <Paragraphs>4</Paragraphs>
  <Slides>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梦里水乡</cp:lastModifiedBy>
  <cp:revision>3</cp:revision>
  <dcterms:created xsi:type="dcterms:W3CDTF">2025-10-29T13:46:00Z</dcterms:created>
  <dcterms:modified xsi:type="dcterms:W3CDTF">2025-11-18T05:35:00Z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{"ContentPropagator":"001191340000711771143J00000","Label":"1","ReservedCode1":"1761745599093","ProduceID":"zhiwen-pptx-9122828413","ReservedCode2":"1761745599093","PropagateID":"zhiwen-pptx-9122828413","ContentProducer":"001191340000711771143J00000"}</vt:lpwstr>
  </property>
  <property fmtid="{D5CDD505-2E9C-101B-9397-08002B2CF9AE}" pid="3" name="ICV">
    <vt:lpwstr>23E6A2EBC2734BD99ED45DB72656E3B2_12</vt:lpwstr>
  </property>
  <property fmtid="{D5CDD505-2E9C-101B-9397-08002B2CF9AE}" pid="4" name="KSOProductBuildVer">
    <vt:lpwstr>2052-12.1.0.23542</vt:lpwstr>
  </property>
</Properties>
</file>